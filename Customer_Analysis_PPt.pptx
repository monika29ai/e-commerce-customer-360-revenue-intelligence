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embeddedFontLst>
    <p:embeddedFont>
      <p:font typeface="Roboto" panose="02000000000000000000" pitchFamily="34" charset="0"/>
      <p:regular r:id="rId18"/>
    </p:embeddedFont>
    <p:embeddedFont>
      <p:font typeface="Roboto" panose="02000000000000000000" pitchFamily="34" charset="-122"/>
      <p:regular r:id="rId19"/>
    </p:embeddedFont>
    <p:embeddedFont>
      <p:font typeface="Roboto" panose="02000000000000000000" pitchFamily="34" charset="-120"/>
      <p:regular r:id="rId20"/>
    </p:embeddedFont>
    <p:embeddedFont>
      <p:font typeface="Roboto Slab" pitchFamily="34" charset="0"/>
      <p:regular r:id="rId21"/>
    </p:embeddedFont>
    <p:embeddedFont>
      <p:font typeface="Roboto Slab" pitchFamily="34" charset="-122"/>
      <p:regular r:id="rId22"/>
    </p:embeddedFont>
    <p:embeddedFont>
      <p:font typeface="Roboto Slab" pitchFamily="34" charset="-120"/>
      <p:regular r:id="rId23"/>
    </p:embeddedFont>
    <p:embeddedFont>
      <p:font typeface="Roboto Bold" panose="02000000000000000000" pitchFamily="34" charset="0"/>
      <p:bold r:id="rId24"/>
    </p:embeddedFont>
    <p:embeddedFont>
      <p:font typeface="Roboto Bold" panose="02000000000000000000" pitchFamily="34" charset="-122"/>
      <p:bold r:id="rId25"/>
    </p:embeddedFont>
    <p:embeddedFont>
      <p:font typeface="Roboto Bold" panose="02000000000000000000" pitchFamily="34" charset="-120"/>
      <p:bold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09600"/>
            <a:ext cx="1137891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7313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EXECUTIVE INTELLIGENCE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200" y="789940"/>
            <a:ext cx="8201660" cy="2537460"/>
          </a:xfrm>
          <a:prstGeom prst="rect">
            <a:avLst/>
          </a:prstGeom>
          <a:noFill/>
        </p:spPr>
        <p:txBody>
          <a:bodyPr wrap="square" lIns="0" tIns="165096" rIns="0" bIns="165096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ANALYSIS: WHAT THE EVIDENCE SUPPORTS</a:t>
            </a:r>
            <a:endParaRPr lang="en-US" sz="52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lnSpc>
                <a:spcPct val="83000"/>
              </a:lnSpc>
              <a:buNone/>
            </a:pP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11182" y="3158430"/>
            <a:ext cx="2382083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5" name="Text 3"/>
          <p:cNvSpPr/>
          <p:nvPr/>
        </p:nvSpPr>
        <p:spPr>
          <a:xfrm>
            <a:off x="711182" y="3326705"/>
            <a:ext cx="7218480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Management review of customer value, churn risk, returns, profitability, channels, and the data needed for stronger decisions.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77802" y="1597323"/>
            <a:ext cx="3093662" cy="1238250"/>
          </a:xfrm>
          <a:prstGeom prst="rect">
            <a:avLst/>
          </a:prstGeom>
          <a:noFill/>
        </p:spPr>
        <p:txBody>
          <a:bodyPr wrap="none" lIns="0" tIns="206370" rIns="0" bIns="20637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0" dirty="0">
                <a:solidFill>
                  <a:srgbClr val="27313A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50K</a:t>
            </a:r>
            <a:endParaRPr lang="en-US" sz="6500" dirty="0"/>
          </a:p>
        </p:txBody>
      </p:sp>
      <p:sp>
        <p:nvSpPr>
          <p:cNvPr id="7" name="Text 5"/>
          <p:cNvSpPr/>
          <p:nvPr/>
        </p:nvSpPr>
        <p:spPr>
          <a:xfrm>
            <a:off x="8968655" y="2860278"/>
            <a:ext cx="2511759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7313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RECORDS PROFILED · 53 FIELDS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1182" y="4883348"/>
            <a:ext cx="5156071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7313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COVERAGE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1182" y="5174754"/>
            <a:ext cx="5156071" cy="213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Python · SQL · Power BI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24442" y="4883348"/>
            <a:ext cx="5156071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7313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STATUS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442" y="5174754"/>
            <a:ext cx="5156071" cy="213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Audited Analytical Findings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1182" y="5845274"/>
            <a:ext cx="10769331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7313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DECISION HORIZON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1182" y="6136680"/>
            <a:ext cx="10769331" cy="2133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Supported Actions &amp; Evidence Gaps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08000"/>
            <a:ext cx="1137891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52606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01 — EVIDENCE ASSESSMENT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647005"/>
            <a:ext cx="10769331" cy="1206500"/>
          </a:xfrm>
          <a:prstGeom prst="rect">
            <a:avLst/>
          </a:prstGeom>
          <a:noFill/>
        </p:spPr>
        <p:txBody>
          <a:bodyPr wrap="square" lIns="0" tIns="120647" rIns="0" bIns="120647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ANALYSIS IS DECISION-READY IN SOME AREAS, NOT ALL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1182" y="1910655"/>
            <a:ext cx="11378915" cy="231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Distinguishing actionable conclusions from areas constrained by missing transactional history.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1182" y="2344936"/>
            <a:ext cx="10769331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6" name="Shape 4"/>
          <p:cNvSpPr/>
          <p:nvPr/>
        </p:nvSpPr>
        <p:spPr>
          <a:xfrm>
            <a:off x="711182" y="2567186"/>
            <a:ext cx="3386549" cy="2084784"/>
          </a:xfrm>
          <a:prstGeom prst="rect">
            <a:avLst/>
          </a:prstGeom>
          <a:solidFill>
            <a:srgbClr val="3257B8"/>
          </a:solidFill>
          <a:ln w="6350">
            <a:solidFill>
              <a:srgbClr val="3257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1526" y="2802136"/>
            <a:ext cx="1007640" cy="270173"/>
          </a:xfrm>
          <a:prstGeom prst="roundRect">
            <a:avLst>
              <a:gd name="adj" fmla="val 7897"/>
            </a:avLst>
          </a:prstGeom>
          <a:solidFill>
            <a:srgbClr val="D7DFF4"/>
          </a:solidFill>
        </p:spPr>
      </p:sp>
      <p:sp>
        <p:nvSpPr>
          <p:cNvPr id="8" name="Text 6"/>
          <p:cNvSpPr/>
          <p:nvPr/>
        </p:nvSpPr>
        <p:spPr>
          <a:xfrm>
            <a:off x="1078183" y="2855416"/>
            <a:ext cx="1403910" cy="1636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71526" y="3145334"/>
            <a:ext cx="2865862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Strongest Evidence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1526" y="3563739"/>
            <a:ext cx="2865862" cy="853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Defensible distributions across customer value segments, modeled CLV, categorical churn risk, returns concentration, and channel customer counts.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2523" y="2567186"/>
            <a:ext cx="3386549" cy="2084784"/>
          </a:xfrm>
          <a:prstGeom prst="rect">
            <a:avLst/>
          </a:prstGeom>
          <a:solidFill>
            <a:srgbClr val="3257B8"/>
          </a:solidFill>
          <a:ln w="6350">
            <a:solidFill>
              <a:srgbClr val="3257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2867" y="2802136"/>
            <a:ext cx="1329895" cy="270173"/>
          </a:xfrm>
          <a:prstGeom prst="roundRect">
            <a:avLst>
              <a:gd name="adj" fmla="val 7897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9524" y="2855416"/>
            <a:ext cx="1726165" cy="1636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 BOUNDARY</a:t>
            </a:r>
            <a:endParaRPr lang="en-US" sz="1100" dirty="0">
              <a:solidFill>
                <a:schemeClr val="tx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2867" y="3145334"/>
            <a:ext cx="2865862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Important Boundaries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2867" y="3563739"/>
            <a:ext cx="2865862" cy="853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Roboto" panose="02000000000000000000" pitchFamily="34" charset="0"/>
                <a:cs typeface="Roboto" panose="02000000000000000000" pitchFamily="34" charset="0"/>
              </a:rPr>
              <a:t>The analysis focuses on the available customer, revenue, and retention indicators to support business insights and identify key performance patterns.</a:t>
            </a:r>
            <a:endParaRPr lang="en-US" altLang="en-US" sz="1200" dirty="0">
              <a:solidFill>
                <a:schemeClr val="bg1"/>
              </a:solidFill>
              <a:latin typeface="Roboto" panose="02000000000000000000" pitchFamily="34" charset="0"/>
              <a:cs typeface="Roboto" panose="02000000000000000000" pitchFamily="34" charset="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altLang="en-US" sz="1200" dirty="0">
              <a:solidFill>
                <a:schemeClr val="bg1"/>
              </a:solidFill>
              <a:latin typeface="Roboto" panose="02000000000000000000" pitchFamily="34" charset="0"/>
              <a:cs typeface="Roboto" panose="02000000000000000000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93865" y="2567186"/>
            <a:ext cx="3386549" cy="2084784"/>
          </a:xfrm>
          <a:prstGeom prst="rect">
            <a:avLst/>
          </a:prstGeom>
          <a:solidFill>
            <a:srgbClr val="3257B8"/>
          </a:solidFill>
          <a:ln w="6350">
            <a:solidFill>
              <a:srgbClr val="3257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4208" y="2802136"/>
            <a:ext cx="1483283" cy="270173"/>
          </a:xfrm>
          <a:prstGeom prst="roundRect">
            <a:avLst>
              <a:gd name="adj" fmla="val 7897"/>
            </a:avLst>
          </a:prstGeom>
          <a:solidFill>
            <a:srgbClr val="D7DFF4"/>
          </a:solidFill>
        </p:spPr>
      </p:sp>
      <p:sp>
        <p:nvSpPr>
          <p:cNvPr id="18" name="Text 16"/>
          <p:cNvSpPr/>
          <p:nvPr/>
        </p:nvSpPr>
        <p:spPr>
          <a:xfrm>
            <a:off x="8460866" y="2855416"/>
            <a:ext cx="1879553" cy="1636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EXECUTIVE 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54208" y="3145334"/>
            <a:ext cx="2865862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Management Implication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54208" y="3563739"/>
            <a:ext cx="2865862" cy="853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Execute immediately on supported customer risk cohorts and category return investigations while commissioning the missing data pipelines.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12163" y="6466086"/>
            <a:ext cx="679532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08000"/>
            <a:ext cx="1137891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02 — ARCHITECTURE &amp;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647005"/>
            <a:ext cx="10769331" cy="1206500"/>
          </a:xfrm>
          <a:prstGeom prst="rect">
            <a:avLst/>
          </a:prstGeom>
          <a:noFill/>
        </p:spPr>
        <p:txBody>
          <a:bodyPr wrap="square" lIns="0" tIns="120647" rIns="0" bIns="120647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ONE CUSTOMER DATASET POWERS THREE ANALYTICAL LAYERS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1182" y="1910655"/>
            <a:ext cx="11378915" cy="231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unified pipeline structuring raw transactional records into executive reporting artifacts.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1182" y="2344936"/>
            <a:ext cx="10769331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6" name="Shape 4"/>
          <p:cNvSpPr/>
          <p:nvPr/>
        </p:nvSpPr>
        <p:spPr>
          <a:xfrm>
            <a:off x="711182" y="2567186"/>
            <a:ext cx="3386549" cy="1947267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126" y="2802136"/>
            <a:ext cx="315160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STAGE 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46126" y="3007816"/>
            <a:ext cx="2916661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Ingestion &amp; Prep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46126" y="3426222"/>
            <a:ext cx="2916661" cy="853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Cleans and profiles 50,000 customer rows across 53 columns, validates uniqueness, tests missingness, and derives the baseline return rate metric.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2523" y="2567186"/>
            <a:ext cx="3386549" cy="1947267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7468" y="2802136"/>
            <a:ext cx="315160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STAGE 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37468" y="3007816"/>
            <a:ext cx="2916661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 Relational Logic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7468" y="3426222"/>
            <a:ext cx="2916661" cy="853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Adds customer rankings, multi-table joins, segment aggregations, CTEs, subqueries, and window functions to evaluate top accounts.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3865" y="2567186"/>
            <a:ext cx="3386549" cy="1947267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3257B8"/>
                </a:solidFill>
              </a14:hiddenFill>
            </a:ext>
          </a:extLst>
        </p:spPr>
      </p:sp>
      <p:sp>
        <p:nvSpPr>
          <p:cNvPr id="15" name="Text 13"/>
          <p:cNvSpPr/>
          <p:nvPr/>
        </p:nvSpPr>
        <p:spPr>
          <a:xfrm>
            <a:off x="8328809" y="2802136"/>
            <a:ext cx="315160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STAGE 03</a:t>
            </a:r>
            <a:endParaRPr lang="en-US" sz="1050" kern="100" spc="63" dirty="0">
              <a:solidFill>
                <a:schemeClr val="tx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28809" y="3007816"/>
            <a:ext cx="2916661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chemeClr val="accent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Packaging</a:t>
            </a:r>
            <a:endParaRPr lang="en-US" sz="1700" dirty="0">
              <a:solidFill>
                <a:schemeClr val="accent1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28809" y="3426222"/>
            <a:ext cx="2916661" cy="853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Synthesizes the underlying logic into four interactive management-facing report views: Executive, Customer, Product/Profit, and Marketing.</a:t>
            </a:r>
            <a:endParaRPr lang="en-US" sz="1200" dirty="0">
              <a:solidFill>
                <a:schemeClr val="tx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12163" y="6466086"/>
            <a:ext cx="679532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7200"/>
            <a:ext cx="11480513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7313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03 — SEGMENT DISTRIBUTION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60383" y="602555"/>
            <a:ext cx="10870928" cy="1143000"/>
          </a:xfrm>
          <a:prstGeom prst="rect">
            <a:avLst/>
          </a:prstGeom>
          <a:noFill/>
        </p:spPr>
        <p:txBody>
          <a:bodyPr wrap="square" lIns="0" tIns="114297" rIns="0" bIns="114297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HIGH-VALUE CUSTOMERS ARE THE CLEAREST ASSET TO PROTECT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1853505"/>
            <a:ext cx="10870829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5" name="Text 3"/>
          <p:cNvSpPr/>
          <p:nvPr/>
        </p:nvSpPr>
        <p:spPr>
          <a:xfrm>
            <a:off x="496553" y="2244566"/>
            <a:ext cx="4578632" cy="1581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Very High is the largest customer-value category in the Python visual.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High CLV is the dominant CLV category.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SQL supports top-customer ranking by spending, CLV, and profitability, but saved result rows are not included.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43709" y="2075755"/>
            <a:ext cx="5987503" cy="4375845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656" y="2482850"/>
            <a:ext cx="4531207" cy="3301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43709" y="5857776"/>
            <a:ext cx="5987503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Source: Python distribution visual · Customer_Value vs. CLV Segment tiers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12163" y="6466086"/>
            <a:ext cx="679532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7200"/>
            <a:ext cx="11480513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04 — RETENTION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60383" y="602555"/>
            <a:ext cx="10870928" cy="1143000"/>
          </a:xfrm>
          <a:prstGeom prst="rect">
            <a:avLst/>
          </a:prstGeom>
          <a:noFill/>
        </p:spPr>
        <p:txBody>
          <a:bodyPr wrap="square" lIns="0" tIns="114297" rIns="0" bIns="114297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CHURN RISK IS CONCENTRATED IN A SMALLER, ACTIONABLE POPULATION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1853505"/>
            <a:ext cx="10870829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5" name="Text 3"/>
          <p:cNvSpPr/>
          <p:nvPr/>
        </p:nvSpPr>
        <p:spPr>
          <a:xfrm>
            <a:off x="660383" y="2142331"/>
            <a:ext cx="4477035" cy="1581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Low and Very Low risk groups dominate the distribution.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High and Very High risk groups are smaller but are the clearest retention-priority population.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Prioritize by recency, CLV, spending, profitability, engagement, and health status.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43709" y="2075755"/>
            <a:ext cx="5987503" cy="4375845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656" y="2612727"/>
            <a:ext cx="4531207" cy="3301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12163" y="6466086"/>
            <a:ext cx="679532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7200"/>
            <a:ext cx="11480513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7313A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05 — REVERSE LOGISTICS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60383" y="602555"/>
            <a:ext cx="10870928" cy="1143000"/>
          </a:xfrm>
          <a:prstGeom prst="rect">
            <a:avLst/>
          </a:prstGeom>
          <a:noFill/>
        </p:spPr>
        <p:txBody>
          <a:bodyPr wrap="square" lIns="0" tIns="114297" rIns="0" bIns="114297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HEALTH &amp; PERSONAL CARE IS THE FIRST RETURNS INVESTIGATION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1853505"/>
            <a:ext cx="10870829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5" name="Text 3"/>
          <p:cNvSpPr/>
          <p:nvPr/>
        </p:nvSpPr>
        <p:spPr>
          <a:xfrm>
            <a:off x="609583" y="2140466"/>
            <a:ext cx="4578632" cy="183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Python calculates return rate as return count divided by total purchases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Health &amp; Personal Care has the highest average plotted return rate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Next cut: return reasons, product mix, complaints, satisfaction, and revenue attached to returned purchases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43709" y="2075755"/>
            <a:ext cx="5987503" cy="4375845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656" y="2482850"/>
            <a:ext cx="5534879" cy="3301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43709" y="5857776"/>
            <a:ext cx="5987503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Source: Python categorical analysis · Average return rate by product category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12163" y="6466086"/>
            <a:ext cx="679532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31800"/>
            <a:ext cx="11531312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52606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06 — PROFITABILITY &amp; MARGINS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4984" y="583505"/>
            <a:ext cx="10921727" cy="1079500"/>
          </a:xfrm>
          <a:prstGeom prst="rect">
            <a:avLst/>
          </a:prstGeom>
          <a:noFill/>
        </p:spPr>
        <p:txBody>
          <a:bodyPr wrap="square" lIns="0" tIns="107947" rIns="0" bIns="107947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CATEGORY ECONOMICS SHOW WHERE TO INVESTIGATE—NOT YET WHERE LOSS IS PROVEN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4984" y="1777305"/>
            <a:ext cx="10921727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5" name="Text 3"/>
          <p:cNvSpPr/>
          <p:nvPr/>
        </p:nvSpPr>
        <p:spPr>
          <a:xfrm>
            <a:off x="634984" y="1910596"/>
            <a:ext cx="4246853" cy="183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Category spending and customer profitability are available in Python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Toys shows the lowest plotted total customer profitability, but also relatively low spending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strong-revenue/weak-profit product cannot be named without rendered margin or product-level values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34134" y="1999555"/>
            <a:ext cx="3185140" cy="4477445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9078" y="3239790"/>
            <a:ext cx="2715252" cy="16198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34134" y="5050135"/>
            <a:ext cx="318514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Category Total Spending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371571" y="1999555"/>
            <a:ext cx="3185140" cy="4477445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515" y="3239790"/>
            <a:ext cx="2715252" cy="16198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371571" y="5050135"/>
            <a:ext cx="318514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Profitability by Category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512163" y="6466086"/>
            <a:ext cx="679532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457200"/>
            <a:ext cx="11480513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52606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07 — CHANNEL PERFORMANCE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60383" y="602555"/>
            <a:ext cx="10870928" cy="1143000"/>
          </a:xfrm>
          <a:prstGeom prst="rect">
            <a:avLst/>
          </a:prstGeom>
          <a:noFill/>
        </p:spPr>
        <p:txBody>
          <a:bodyPr wrap="square" lIns="0" tIns="114297" rIns="0" bIns="114297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CHANNEL VOLUME IS BALANCED; CHANNEL VALUE IS STILL UNANSWERED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0383" y="1853505"/>
            <a:ext cx="10870829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5" name="Text 3"/>
          <p:cNvSpPr/>
          <p:nvPr/>
        </p:nvSpPr>
        <p:spPr>
          <a:xfrm>
            <a:off x="660383" y="2304355"/>
            <a:ext cx="4477035" cy="2328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Customer counts:</a:t>
            </a: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Customer counts are broadly balanced across In-Store, Marketplace, Online, and Mobile App.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Power BI:</a:t>
            </a: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Power BI compares channel revenue, conversion, acquisition cost, return rate, profitability, and customer count.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Highest-value channel:</a:t>
            </a: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alt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Online channel shows strong customer value, based on the available channel-level analysis and customer performance indicators.</a:t>
            </a:r>
            <a:endParaRPr lang="en-US" alt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endParaRPr lang="en-US" alt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543709" y="2075755"/>
            <a:ext cx="5987503" cy="4375845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656" y="2183705"/>
            <a:ext cx="4419291" cy="3301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43709" y="5612606"/>
            <a:ext cx="5987503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Source: Customer count distribution by primary acquisition channel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12163" y="6466086"/>
            <a:ext cx="679532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08000"/>
            <a:ext cx="1137891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52606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08 — EVIDENCE GAPS &amp; PIPELINE PRIORITIES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647005"/>
            <a:ext cx="10769331" cy="1206500"/>
          </a:xfrm>
          <a:prstGeom prst="rect">
            <a:avLst/>
          </a:prstGeom>
          <a:noFill/>
        </p:spPr>
        <p:txBody>
          <a:bodyPr wrap="square" lIns="0" tIns="120647" rIns="0" bIns="120647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DECLINE AND COHORT RETENTION NEED NEW EVIDENCE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1182" y="1910655"/>
            <a:ext cx="11378915" cy="2310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Three critical executive metrics cannot be substantiated without schema modifications.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1182" y="2344936"/>
            <a:ext cx="10769331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6" name="Shape 4"/>
          <p:cNvSpPr/>
          <p:nvPr/>
        </p:nvSpPr>
        <p:spPr>
          <a:xfrm>
            <a:off x="711182" y="2567186"/>
            <a:ext cx="3386549" cy="2373313"/>
          </a:xfrm>
          <a:prstGeom prst="rect">
            <a:avLst/>
          </a:prstGeom>
          <a:solidFill>
            <a:srgbClr val="3257B8"/>
          </a:solidFill>
          <a:ln w="6350">
            <a:solidFill>
              <a:srgbClr val="3257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26" y="2802136"/>
            <a:ext cx="312620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GAP 01 · RUN RATE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71526" y="3007816"/>
            <a:ext cx="2865862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Last-Month Revenue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71526" y="3470672"/>
            <a:ext cx="2865763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10" name="Text 8"/>
          <p:cNvSpPr/>
          <p:nvPr/>
        </p:nvSpPr>
        <p:spPr>
          <a:xfrm>
            <a:off x="971526" y="3638947"/>
            <a:ext cx="2865862" cy="10666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monthly revenue time-series or order date dimension is present in the extracted dataset. Claims regarding recent acceleration or decline cannot be validated.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2523" y="2567186"/>
            <a:ext cx="3386549" cy="2373313"/>
          </a:xfrm>
          <a:prstGeom prst="rect">
            <a:avLst/>
          </a:prstGeom>
          <a:solidFill>
            <a:srgbClr val="3257B8"/>
          </a:solidFill>
          <a:ln w="6350">
            <a:solidFill>
              <a:srgbClr val="325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2867" y="2802136"/>
            <a:ext cx="312620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GAP 02 · LIFECYCLE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2867" y="3007816"/>
            <a:ext cx="2865862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Best Cohort Analysis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62867" y="3470672"/>
            <a:ext cx="2865763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15" name="Text 13"/>
          <p:cNvSpPr/>
          <p:nvPr/>
        </p:nvSpPr>
        <p:spPr>
          <a:xfrm>
            <a:off x="4662867" y="3638947"/>
            <a:ext cx="2865862" cy="8532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first-purchase acquisition cohort field or cohort-retention matrix exists. Identifying superior historical vintage cohorts remains analytically unsupported.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3865" y="2567186"/>
            <a:ext cx="3386549" cy="2373313"/>
          </a:xfrm>
          <a:prstGeom prst="rect">
            <a:avLst/>
          </a:prstGeom>
          <a:solidFill>
            <a:srgbClr val="3257B8"/>
          </a:solidFill>
          <a:ln w="6350">
            <a:solidFill>
              <a:srgbClr val="325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4208" y="2802136"/>
            <a:ext cx="3126205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GAP 03 · LOYALTY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54208" y="3007816"/>
            <a:ext cx="2865862" cy="345380"/>
          </a:xfrm>
          <a:prstGeom prst="rect">
            <a:avLst/>
          </a:prstGeom>
          <a:noFill/>
        </p:spPr>
        <p:txBody>
          <a:bodyPr wrap="none" lIns="0" tIns="53974" rIns="0" bIns="53974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Repeat Purchase Rate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54208" y="3470672"/>
            <a:ext cx="2865763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20" name="Text 18"/>
          <p:cNvSpPr/>
          <p:nvPr/>
        </p:nvSpPr>
        <p:spPr>
          <a:xfrm>
            <a:off x="8354208" y="3638947"/>
            <a:ext cx="2865862" cy="10666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While the DAX measure name exists within the Power BI metadata, its underlying formula, threshold parameters, and rendered output values are unexposed.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12163" y="6466086"/>
            <a:ext cx="679532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84" y="431800"/>
            <a:ext cx="11531312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52606D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09 — DASHBOARD GOVERNANCE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34984" y="583505"/>
            <a:ext cx="10921727" cy="1079500"/>
          </a:xfrm>
          <a:prstGeom prst="rect">
            <a:avLst/>
          </a:prstGeom>
          <a:noFill/>
        </p:spPr>
        <p:txBody>
          <a:bodyPr wrap="square" lIns="0" tIns="107947" rIns="0" bIns="107947" rtlCol="0" anchor="t">
            <a:normAutofit fontScale="9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3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 Enables Comprehensive Management Reporting</a:t>
            </a:r>
            <a:r>
              <a:rPr lang="en-US" sz="3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34984" y="1777305"/>
            <a:ext cx="10921727" cy="19050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5" name="Text 3"/>
          <p:cNvSpPr/>
          <p:nvPr/>
        </p:nvSpPr>
        <p:spPr>
          <a:xfrm>
            <a:off x="635000" y="2266315"/>
            <a:ext cx="4596765" cy="644525"/>
          </a:xfrm>
          <a:prstGeom prst="rect">
            <a:avLst/>
          </a:prstGeom>
          <a:noFill/>
        </p:spPr>
        <p:txBody>
          <a:bodyPr wrap="square" lIns="0" tIns="63498" rIns="0" bIns="63498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Executive summary 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5000" y="2800985"/>
            <a:ext cx="4225925" cy="17856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indent="0" algn="l">
              <a:lnSpc>
                <a:spcPct val="117000"/>
              </a:lnSpc>
              <a:buSzPct val="100000"/>
              <a:buNone/>
            </a:pPr>
            <a:r>
              <a:rPr lang="en-US" sz="1400" b="1" dirty="0">
                <a:solidFill>
                  <a:srgbClr val="0070C0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Report architecture</a:t>
            </a:r>
            <a:r>
              <a:rPr lang="en-US" sz="14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:</a:t>
            </a:r>
            <a:r>
              <a:rPr lang="en-US" altLang="en-US" sz="14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Four dedicated reporting pages organize the analysis into Executive Overview, Customer Insights, Product &amp; Profitability, and Marketing Intelligence.  </a:t>
            </a:r>
            <a:endParaRPr lang="en-US" altLang="en-US" sz="1400" b="1" dirty="0">
              <a:solidFill>
                <a:srgbClr val="15213F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  <a:p>
            <a:pPr indent="0" algn="l">
              <a:lnSpc>
                <a:spcPct val="117000"/>
              </a:lnSpc>
              <a:buSzPct val="100000"/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Executive tiles:</a:t>
            </a:r>
            <a:r>
              <a:rPr lang="en-US" altLang="en-US" sz="14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The dashboard highlights overall Revenue, Profit, Customers, Return Rate, AOV (Average Order Value), and Average CLV (Customer Lifetime Value).</a:t>
            </a:r>
            <a:endParaRPr lang="en-US" altLang="en-US" sz="1400" b="1" dirty="0">
              <a:solidFill>
                <a:srgbClr val="15213F"/>
              </a:solidFill>
              <a:latin typeface="Roboto Bold" panose="02000000000000000000" pitchFamily="34" charset="0"/>
              <a:ea typeface="Roboto Bold" panose="02000000000000000000" pitchFamily="34" charset="-122"/>
              <a:cs typeface="Roboto Bold" panose="02000000000000000000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92455" y="4985385"/>
            <a:ext cx="4111625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altLang="en-US" sz="1400" dirty="0"/>
              <a:t>Overall Performance: The executive KPIs represent the overall company-level performance across the available data, providing a high-level view of revenue generation, profitability, customer value, and return performance.</a:t>
            </a:r>
            <a:endParaRPr lang="en-US" alt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186530" y="1999555"/>
            <a:ext cx="6370180" cy="4477445"/>
          </a:xfrm>
          <a:prstGeom prst="rect">
            <a:avLst/>
          </a:prstGeom>
          <a:noFill/>
          <a:ln w="6350">
            <a:solidFill>
              <a:srgbClr val="3257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64000" y="6137850"/>
            <a:ext cx="637018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Power </a:t>
            </a:r>
            <a:r>
              <a:rPr lang="en-US" sz="2000" b="1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BI Executive Overview </a:t>
            </a:r>
            <a:endParaRPr lang="en-US" sz="2000" b="1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442215" y="6466086"/>
            <a:ext cx="749480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10</a:t>
            </a:r>
            <a:endParaRPr lang="en-US" sz="10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rcRect l="3351" t="18529" r="39351" b="23252"/>
          <a:stretch>
            <a:fillRect/>
          </a:stretch>
        </p:blipFill>
        <p:spPr>
          <a:xfrm>
            <a:off x="5403850" y="2041525"/>
            <a:ext cx="5935980" cy="4060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24892"/>
            <a:ext cx="11582110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7B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EXECUTIVE TAKEAWAYS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32148"/>
            <a:ext cx="10972526" cy="975320"/>
          </a:xfrm>
          <a:prstGeom prst="rect">
            <a:avLst/>
          </a:prstGeom>
          <a:noFill/>
        </p:spPr>
        <p:txBody>
          <a:bodyPr wrap="none" lIns="0" tIns="152396" rIns="0" bIns="152396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Decisions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832868"/>
            <a:ext cx="11582110" cy="2488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Separate actions supported by the evidence from questions that still need validation.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3111401"/>
            <a:ext cx="3860703" cy="3746599"/>
          </a:xfrm>
          <a:prstGeom prst="rect">
            <a:avLst/>
          </a:prstGeom>
          <a:solidFill>
            <a:srgbClr val="E9ECF2"/>
          </a:solidFill>
        </p:spPr>
      </p:sp>
      <p:sp>
        <p:nvSpPr>
          <p:cNvPr id="6" name="Text 4"/>
          <p:cNvSpPr/>
          <p:nvPr/>
        </p:nvSpPr>
        <p:spPr>
          <a:xfrm>
            <a:off x="609585" y="3721001"/>
            <a:ext cx="3251119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7B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ACT NOW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585" y="3917156"/>
            <a:ext cx="2641534" cy="685800"/>
          </a:xfrm>
          <a:prstGeom prst="rect">
            <a:avLst/>
          </a:prstGeom>
          <a:noFill/>
        </p:spPr>
        <p:txBody>
          <a:bodyPr wrap="square" lIns="0" tIns="63498" rIns="0" bIns="63498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Protect the value already here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4666456"/>
            <a:ext cx="2641534" cy="1581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Investigate Health &amp; Personal Care returns.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Create a High / Very High churn-risk watchlist.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Protect high-value customers.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5496" y="3111401"/>
            <a:ext cx="3860703" cy="3746599"/>
          </a:xfrm>
          <a:prstGeom prst="rect">
            <a:avLst/>
          </a:prstGeom>
          <a:solidFill>
            <a:srgbClr val="E9ECF2"/>
          </a:solidFill>
        </p:spPr>
      </p:sp>
      <p:sp>
        <p:nvSpPr>
          <p:cNvPr id="10" name="Text 8"/>
          <p:cNvSpPr/>
          <p:nvPr/>
        </p:nvSpPr>
        <p:spPr>
          <a:xfrm>
            <a:off x="4775081" y="3992066"/>
            <a:ext cx="3251119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7B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VALIDATE NEXT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5081" y="4188222"/>
            <a:ext cx="2641534" cy="685800"/>
          </a:xfrm>
          <a:prstGeom prst="rect">
            <a:avLst/>
          </a:prstGeom>
          <a:noFill/>
        </p:spPr>
        <p:txBody>
          <a:bodyPr wrap="square" lIns="0" tIns="63498" rIns="0" bIns="63498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 the economics behind the signals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75081" y="4937522"/>
            <a:ext cx="2641534" cy="10398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Compare channel value using CLV and profitability.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Quantify category-level margin differences.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30992" y="3111401"/>
            <a:ext cx="3860703" cy="3746599"/>
          </a:xfrm>
          <a:prstGeom prst="rect">
            <a:avLst/>
          </a:prstGeom>
          <a:solidFill>
            <a:srgbClr val="E9ECF2"/>
          </a:solidFill>
        </p:spPr>
      </p:sp>
      <p:sp>
        <p:nvSpPr>
          <p:cNvPr id="14" name="Text 12"/>
          <p:cNvSpPr/>
          <p:nvPr/>
        </p:nvSpPr>
        <p:spPr>
          <a:xfrm>
            <a:off x="8940576" y="3947616"/>
            <a:ext cx="3251119" cy="186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3257B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DO NOT CLAIM YET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40576" y="4143772"/>
            <a:ext cx="2641534" cy="685800"/>
          </a:xfrm>
          <a:prstGeom prst="rect">
            <a:avLst/>
          </a:prstGeom>
          <a:noFill/>
        </p:spPr>
        <p:txBody>
          <a:bodyPr wrap="square" lIns="0" tIns="63498" rIns="0" bIns="63498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Keep the narrative disciplined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940576" y="4893072"/>
            <a:ext cx="2641534" cy="11287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Last-month revenue decline.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Best retention cohort.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Exact repeat-purchase rate.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Monetized revenue leakage.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585" y="6466086"/>
            <a:ext cx="3248638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Customer Analysis: What the evidence supports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42215" y="6466086"/>
            <a:ext cx="749480" cy="1741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6217</Words>
  <Application>WPS Presentation</Application>
  <PresentationFormat>On-screen Show (16:9)</PresentationFormat>
  <Paragraphs>231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Roboto</vt:lpstr>
      <vt:lpstr>Roboto</vt:lpstr>
      <vt:lpstr>Roboto</vt:lpstr>
      <vt:lpstr>Roboto Slab</vt:lpstr>
      <vt:lpstr>Roboto Slab</vt:lpstr>
      <vt:lpstr>Roboto Slab</vt:lpstr>
      <vt:lpstr>Roboto Bold</vt:lpstr>
      <vt:lpstr>Roboto Bold</vt:lpstr>
      <vt:lpstr>Roboto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Ravi Ravi</cp:lastModifiedBy>
  <cp:revision>6</cp:revision>
  <dcterms:created xsi:type="dcterms:W3CDTF">2026-10-04T08:20:00Z</dcterms:created>
  <dcterms:modified xsi:type="dcterms:W3CDTF">2026-10-06T14:49:38Z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63294FAE2B18437BB641CC84B4DD8DA9_12</vt:lpwstr>
  </property>
  <property fmtid="{D5CDD505-2E9C-101B-9397-08002B2CF9AE}" pid="3" name="KSOProductBuildVer">
    <vt:lpwstr>1033-12.1.0.28485</vt:lpwstr>
  </property>
</Properties>
</file>